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A4B603-180B-4D82-9694-0DEE5BBCF639}">
  <a:tblStyle styleId="{16A4B603-180B-4D82-9694-0DEE5BBCF6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128e6e5c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1128e6e5c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55545" y="2388840"/>
            <a:ext cx="728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비전 기반 </a:t>
            </a:r>
            <a:r>
              <a:rPr b="0" i="0" lang="en-US" sz="48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게임 QA</a:t>
            </a:r>
            <a:r>
              <a:rPr b="0" i="0" lang="en-US" sz="48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자동화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40310"/>
            <a:ext cx="762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블랙박스 환경 기반의 게임 QA 자동화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를 위한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화면(픽셀)만 보고 플레이어블 캐릭터를 실시간으로 탐지·추적하는 "AI 테스터"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왜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'화면(Vision)'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이어야 하는가?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57250" y="146685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블랙박스 테스트의 본질</a:t>
            </a:r>
            <a:endParaRPr b="0" i="0" sz="13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내부 API나 로그는 게임이 내부적으로 무엇을 하는지 검증하지만, 유저가 실제로 보는 것은 모니터에 그려진 최종 픽셀입니다.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247650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체감형 결함 탐지</a:t>
            </a:r>
            <a:endParaRPr b="1" sz="13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내부 좌표는 정상이지만 렌더링 단계에서 캐릭터가 UI에 가려지거나, 프레임 지연이 발생하는 현상은 오직 화면을 봐야 잡을 수 있습니다.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348615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비간섭적(Non-Intrusive) 환경</a:t>
            </a:r>
            <a:endParaRPr b="1" sz="13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게임 엔진과 클라이언트에 간섭하지 않으므로, 보안이 철저한 라이브 빌드에도 즉시 투입 가능합니다.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4192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42887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4385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343650" y="4648200"/>
            <a:ext cx="526732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438900" y="474345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좌측은 API/로그(초록색 코드), 우측은 UI나 이펙트에 캐릭터가 가려진 게임 스크린샷 (대비 효과)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>
            <a:off x="571500" y="571500"/>
            <a:ext cx="5550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프로젝트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목표 및 타겟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1562100"/>
            <a:ext cx="5000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타겟 게임</a:t>
            </a:r>
            <a:endParaRPr b="1" sz="13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던전앤파이터 (Dungeon &amp; Fighter)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220980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환경적 난이도</a:t>
            </a:r>
            <a:endParaRPr b="1" i="0" sz="13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수천 가지 아바타 조합, 화려한 스킬 이펙트, 반투명 UI가 난무하는 극한의 2D 픽셀 노이즈 환경.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3190875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최종 목표</a:t>
            </a:r>
            <a:endParaRPr b="1" i="0" sz="13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1단계 정적 스크린샷 탐지를 넘어, 오직 화면만 보고 "내 캐릭터"를 찾아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동영상에서 실시간으로 추적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하는 것.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151447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162175"/>
            <a:ext cx="1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3143250"/>
            <a:ext cx="1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6334125" y="6238875"/>
            <a:ext cx="585787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429375" y="6334125"/>
            <a:ext cx="5667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스킬 이펙트가 터지고 여러 캐릭터가 뒤엉켜 있는 복잡한 던전앤파이터 전투 스크린샷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66850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시스템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아키텍처 및 기술 스택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6775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탐지 모델 (Detection)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297450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YOLO11 &amp; PyTorch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1280 해상도로 학습하여 미세한 닉네임과 캐릭터 박스를 정확히 분리 탐지합니다.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5074" y="2409825"/>
            <a:ext cx="30470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추적 알고리즘 (Tracking)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293370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ByteTrack &amp; Hysteresis Lock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프레임 간 대상의 위치를 예측하고 매칭하여 동영상 내 실시간 궤적을 유지합니다.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240982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데이터 파이프라인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474" y="2914650"/>
            <a:ext cx="29019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Active Learning Loop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Flask/Streamlit 웹앱을 통해 모델이 1차 라벨링하고, 사람이 빠르게 O/X 검수하여 재학습하는 선순환 구조.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7907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79070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52863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66850"/>
            <a:ext cx="5286375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데이터 파이프라인과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능동학습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52500" y="18478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합성 증강 (Synthesize)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2352675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초기 데이터 부족을 해결하기 위해 직업별 스프라이트를 활용해 7,070장의 합성 프레임을 생성하여 기초 모델의 성능을 확보했습니다.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15125" y="18478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Pseudo-labeling 검수 루프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15125" y="2352675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영상 프레임 추출 후, 학습된 모델이 1차로 라벨링을 수행합니다. 인간은 처음부터 그리는 것이 아니라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O/X/? 검수만 진행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하여 라벨링 비용을 획기적으로 낮췄습니다.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Challenge 1: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'내 캐릭터'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는 어떻게 찾는가?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7250" y="14668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문제: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화면 내의 파티원과 '내 캐릭터'는 시각적으로 완벽히 동일하여 구분이 불가합니다.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57250" y="221932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해결 (후처리 정책):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모델은 순수하게 character와 user_id(닉네임) 박스만 모두 탐지합니다.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57250" y="2971800"/>
            <a:ext cx="50006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가장 신뢰도가 높은 닉네임 바운딩 박스를 기준으로,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그 바로 아래 위치한 캐릭터를 '내 캐릭터'로 묶어내는 A안 후처리 로직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을 설계했습니다.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57250" y="39814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원문 크기 ~70x24px의 작은 닉네임을 잡기 위해 학습 해상도(imgsz)를 1280으로 끌어올렸습니다.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14192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171700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92417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39338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343650" y="4648200"/>
            <a:ext cx="526732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438900" y="4743450"/>
            <a:ext cx="507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두 명의 똑같이 생긴 픽셀 캐릭터 중, 한 캐릭터 머리 위의 '닉네임' 박스에 하이라이트/바운딩 박스가 쳐진 확대 스크린샷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476250"/>
            <a:ext cx="1160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Challenge 2: 추적의 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진동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(ID Switch) 제어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2938462"/>
            <a:ext cx="2819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68%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4605337"/>
            <a:ext cx="281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ID Switch 감소율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152900" y="2719387"/>
            <a:ext cx="78409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Hysteresis Lock (이력 현상 잠금) 도입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152900" y="3224212"/>
            <a:ext cx="74676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화려한 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스킬 사용 시</a:t>
            </a: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순간적으로 탐지가 끊기며 추적 ID가 바뀌는(튀는) 고질적 병목이 있었습니다.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단순 탐지를 넘어 coast-grace 및 challenge-frames 로직을 적용한 Hysteresis 락을 구현하여, 대상이 일시적으로 가려지더라도 ID를 잃지 않고 락온을 유지합니다.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4152900" y="4843462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결과: ID 스위치 276건 ➔ 88건으로 안정화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Challenge 3: 하드웨어 한계 극복,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'청크 그라인딩'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57250" y="146685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문제</a:t>
            </a:r>
            <a:endParaRPr b="1" sz="135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GPU 풀로드 학습 시 전력이 순간 차단되며 강제 재부팅되는 정전형 크래시 발생. 전력 제한 설정으로도 해결되지 않았습니다.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57250" y="2447925"/>
            <a:ext cx="5000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해결: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학습을 2~8 Epoch 단위로 잘게 끊어서 실행하는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청크 그라인딩(Chunk Grinding)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기법을 고안했습니다.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57250" y="3124200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Epoch 경계에서 학습을 일시 정지하고, 가중치·옵티마이저·EMA·LR 스케줄을 `resume`로 완벽히 복원하여 이어붙이는 방식으로 최종 80 Epoch 완주에 성공했습니다.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1419225"/>
            <a:ext cx="133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400300"/>
            <a:ext cx="1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3076575"/>
            <a:ext cx="1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343650" y="4648200"/>
            <a:ext cx="5267325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438900" y="4743450"/>
            <a:ext cx="507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188" y="1675175"/>
            <a:ext cx="4960251" cy="3349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5" y="4271962"/>
            <a:ext cx="314325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2240518" y="2005012"/>
            <a:ext cx="771096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동영상 추적 라이브 데모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2424112" y="3109912"/>
            <a:ext cx="7343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ByteTrack과 Hysteresis 락이 적용된 현역 v3 모델입니다.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화려한 이펙트 속에서도 흔들림 없이 "내 캐릭터"를 락온합니다.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4425" y="446246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95250" y="6357937"/>
            <a:ext cx="120015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배경 사진 느낌: 동영상 플레이어 UI가 오버레이된 역동적인 게임 전투 화면 (실제 시연 시 이 슬라이드에서 웹앱으로 화면 전환)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67275"/>
            <a:ext cx="11049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571500" y="47625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버전 히스토리 및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성능 트레이드오프</a:t>
            </a:r>
            <a:endParaRPr/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571500" y="1466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{16A4B603-180B-4D82-9694-0DEE5BBCF639}</a:tableStyleId>
              </a:tblPr>
              <a:tblGrid>
                <a:gridCol w="1884300"/>
                <a:gridCol w="4927550"/>
                <a:gridCol w="2212025"/>
                <a:gridCol w="2025100"/>
              </a:tblGrid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모델 버전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업데이트 내용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정적 val mAP50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동영상 추적률</a:t>
                      </a:r>
                      <a:endParaRPr b="0" sz="1500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v1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초기 실사(817) + 합성 프레임(2,000)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0.856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-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v2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1·2차 라벨 검수 반영 및 재학습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0.923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0.840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v3 (현재 모델)</a:t>
                      </a:r>
                      <a:endParaRPr b="0" i="0" sz="1500" u="none" cap="none" strike="noStrike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영상 프레임 721장 추가 (동영상 도메인 적용)</a:t>
                      </a:r>
                      <a:endParaRPr b="0" i="0" sz="1500" u="none" cap="none" strike="noStrike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0.931</a:t>
                      </a:r>
                      <a:endParaRPr b="0" i="0" sz="1500" u="none" cap="none" strike="noStrike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0.858 (↑)</a:t>
                      </a:r>
                      <a:endParaRPr b="0" i="0" sz="1500" u="none" cap="none" strike="noStrike">
                        <a:solidFill>
                          <a:srgbClr val="DEFF9A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v4 (예정)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영상 프레임 세밀 검수 (NPC 오탐 등 107건 제거)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-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-</a:t>
                      </a:r>
                      <a:endParaRPr b="0" i="0" sz="1500" u="none" cap="none" strike="noStrike">
                        <a:solidFill>
                          <a:schemeClr val="lt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22"/>
          <p:cNvSpPr txBox="1"/>
          <p:nvPr/>
        </p:nvSpPr>
        <p:spPr>
          <a:xfrm>
            <a:off x="800100" y="5057775"/>
            <a:ext cx="10629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데이터 기반 인사이트:</a:t>
            </a: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v2에서 v3로 영상 도메인 적응 시, 동영상 추적률은 상승했으나 모션블러가 포함된 pseudo-label의 한계로 정적 Recall은 소폭 하락(0.858 ➔ 0.834)했습니다. 무조건 큰 데이터가 답이 아님을 정량적으로 증명합니다.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71500" y="2100262"/>
            <a:ext cx="18843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2455812" y="2100262"/>
            <a:ext cx="492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7383363" y="2100262"/>
            <a:ext cx="22119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9595395" y="2100262"/>
            <a:ext cx="2025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71500" y="2719387"/>
            <a:ext cx="18843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2455812" y="2719387"/>
            <a:ext cx="492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7383363" y="2719387"/>
            <a:ext cx="22119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9595395" y="2719387"/>
            <a:ext cx="2025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71500" y="3338512"/>
            <a:ext cx="18843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2455812" y="3338512"/>
            <a:ext cx="492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383363" y="3338512"/>
            <a:ext cx="22119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9595395" y="3338512"/>
            <a:ext cx="2025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3957637"/>
            <a:ext cx="18843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2455812" y="3957637"/>
            <a:ext cx="492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383363" y="3957637"/>
            <a:ext cx="22119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9595395" y="3957637"/>
            <a:ext cx="2025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571500" y="4762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기대 효과 및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향후 확장 계획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484186" y="4038600"/>
            <a:ext cx="366717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사이드 이펙트 사전 차단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4467225"/>
            <a:ext cx="34925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사람의 눈을 대신해 유저가 체감할 수 있는 예기치 못한 버그를 사전 탐지.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262485" y="4038600"/>
            <a:ext cx="366717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렌더링 지연 정량 리포트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4349799" y="4467225"/>
            <a:ext cx="34925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프레임별 위치와 모델 신뢰도 데이터를 활용하여 게임 클라이언트 렌더링 지연 리포트화.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040785" y="4038600"/>
            <a:ext cx="366717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하드웨어 확충 &amp; v4 고도화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128099" y="4467225"/>
            <a:ext cx="34925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PSU 교체 후 v4 대규모 학습 진행 및 가려진 파티원 Recall 한계 보강.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76375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9324" y="1476375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7624" y="1476375"/>
            <a:ext cx="347349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581025" y="3433762"/>
            <a:ext cx="3473499" cy="4048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676275" y="3529012"/>
            <a:ext cx="328299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AI/로봇이 게임을 테스트하는 컨셉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4359324" y="3219450"/>
            <a:ext cx="3473499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4454574" y="3314700"/>
            <a:ext cx="32829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지연율(Latency)을 보여주는 미래지향적 그래프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8137624" y="3219450"/>
            <a:ext cx="3473499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8232874" y="3314700"/>
            <a:ext cx="32829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💡 사진 느낌: 고성능 파워서플라이(PSU) 또는 하드웨어 업그레이드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1880473" y="2414587"/>
            <a:ext cx="8431053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Questions &amp; Answers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3109912" y="3643312"/>
            <a:ext cx="59721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비전 기반 QA 자동화가 가져올 새로운 품질의 기준,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경청해 주셔서 감사합니다.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571500" y="140970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23526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124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8957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8387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2343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2343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3114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114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886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886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4829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829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5600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5600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666875" y="155257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https://www.cnet.com/a/img/resize/625545176b6096d16f050fb3c1f664e462b09696/hub/2025/03/04/022ef851-3b4c-4261-9eaf-799cd2c1cd2b/split-fiction-20250302222937.jpg?auto=webp&amp;width=1200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666875" y="19716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www.cnet.com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95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666875" y="25026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https://i.ytimg.com/vi/Qz7_-PUDsgk/maxresdefault.jpg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666875" y="27360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play.google.com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67075"/>
            <a:ext cx="15811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666875" y="32742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https://miro.medium.com/1*_-ZV0dkuRGVUI2lWsdIR7Q.png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666875" y="35075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statistician-in-stilettos.medium.com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243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66875" y="40386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https://external-preview.redd.it/i-built-a-led-load-display-for-my-rack-details-in-comments-v0-fN7vqAbnY8ZB6siyvzbBQ9F42552Ll5ug9fDRcfZOgw.jpg?width=1080&amp;crop=smart&amp;auto=webp&amp;s=0b5074f77e4babfa6ae5b2a459f9a186c1901ce6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44577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www.reddit.com</a:t>
            </a:r>
            <a:endParaRPr/>
          </a:p>
        </p:txBody>
      </p:sp>
      <p:pic>
        <p:nvPicPr>
          <p:cNvPr descr="image.png" id="282" name="Google Shape;28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81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666875" y="49887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https://static0.howtogeekimages.com/wordpress/wp-content/uploads/2025/04/shutterstock_2272394045.jpg?w=1600&amp;h=900&amp;fit=crop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666875" y="52220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www.howtogeek.com</a:t>
            </a:r>
            <a:endParaRPr/>
          </a:p>
        </p:txBody>
      </p:sp>
      <p:pic>
        <p:nvPicPr>
          <p:cNvPr descr="image.png" id="285" name="Google Shape;28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38825"/>
            <a:ext cx="14859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1666875" y="57531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https://static.vecteezy.com/system/resources/thumbnails/080/848/567/large/this-futuristic-ui-features-a-moving-predictive-analytics-graph-with-colorful-sine-waves-and-shifting-phase-space-diagrams-designed-for-advanced-signal-monitoring-and-data-forecasting-video.jpg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666875" y="61722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571500" y="14097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571500" y="2171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71500" y="2171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1666875" y="15597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https://cdn.mos.cms.futurecdn.net/YU9Dfa3tFnxyxr9iy2F4DD.jpg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666875" y="17930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www.pcgamer.com</a:t>
            </a:r>
            <a:endParaRPr/>
          </a:p>
        </p:txBody>
      </p:sp>
      <p:pic>
        <p:nvPicPr>
          <p:cNvPr descr="image.png" id="300" name="Google Shape;30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24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1666875" y="23312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https://p16-seeyou-useast8.capcutcdn-us.com/tos-useast8-i-2zwwjm3azk-tx2/3bdfcbd98e3b4b2ab46cb51fbc3e876a~tplv-2zwwjm3azk-image.image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1666875" y="25646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dreamina.capcut.com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