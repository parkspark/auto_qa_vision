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70" r:id="rId29"/>
    <p:sldId id="260" r:id="rId11"/>
    <p:sldId id="271" r:id="rId30"/>
    <p:sldId id="272" r:id="rId31"/>
    <p:sldId id="273" r:id="rId32"/>
    <p:sldId id="274" r:id="rId33"/>
    <p:sldId id="261" r:id="rId12"/>
    <p:sldId id="275" r:id="rId34"/>
    <p:sldId id="262" r:id="rId13"/>
    <p:sldId id="276" r:id="rId35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Urbanist SemiBold"/>
      <p:regular r:id="rId21"/>
      <p:bold r:id="rId22"/>
      <p:italic r:id="rId23"/>
      <p:boldItalic r:id="rId24"/>
    </p:embeddedFont>
    <p:embeddedFont>
      <p:font typeface="Urbanis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A4B603-180B-4D82-9694-0DEE5BBCF639}">
  <a:tblStyle styleId="{16A4B603-180B-4D82-9694-0DEE5BBCF63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UrbanistSemiBold-bold.fntdata"/><Relationship Id="rId21" Type="http://schemas.openxmlformats.org/officeDocument/2006/relationships/font" Target="fonts/UrbanistSemiBold-regular.fntdata"/><Relationship Id="rId24" Type="http://schemas.openxmlformats.org/officeDocument/2006/relationships/font" Target="fonts/UrbanistSemiBold-boldItalic.fntdata"/><Relationship Id="rId23" Type="http://schemas.openxmlformats.org/officeDocument/2006/relationships/font" Target="fonts/Urbanist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.fntdata"/><Relationship Id="rId25" Type="http://schemas.openxmlformats.org/officeDocument/2006/relationships/font" Target="fonts/Urbanist-regular.fntdata"/><Relationship Id="rId28" Type="http://schemas.openxmlformats.org/officeDocument/2006/relationships/font" Target="fonts/Urbanist-boldItalic.fntdata"/><Relationship Id="rId27" Type="http://schemas.openxmlformats.org/officeDocument/2006/relationships/font" Target="fonts/Urbanis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1128e6e5c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f1128e6e5c_2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24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7.jp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15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9" Type="http://schemas.openxmlformats.org/officeDocument/2006/relationships/image" Target="../media/image23.png"/><Relationship Id="rId5" Type="http://schemas.openxmlformats.org/officeDocument/2006/relationships/image" Target="../media/image16.png"/><Relationship Id="rId6" Type="http://schemas.openxmlformats.org/officeDocument/2006/relationships/image" Target="../media/image25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24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24.png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455545" y="2388840"/>
            <a:ext cx="7281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 xml:space="preserve">비전 기반 </a:t>
            </a:r>
            <a:r>
              <a:rPr b="0" i="0" lang="en-US" sz="48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게임 QA</a:t>
            </a:r>
            <a:r>
              <a:rPr b="0" i="0" lang="en-US" sz="48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 xml:space="preserve"> 자동화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440310"/>
            <a:ext cx="762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블랙박스 환경 기반의 게임 QA 자동화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를 위한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 화면(픽셀)만 보고 플레이어블 캐릭터를 실시간으로 탐지·추적하는 "AI 테스터"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71500" y="4762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 xml:space="preserve">왜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'화면(Vision)'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이어야 하는가?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857250" y="1466850"/>
            <a:ext cx="500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블랙박스 테스트의 본질</a:t>
            </a:r>
            <a:endParaRPr b="0" i="0" sz="13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내부 API나 로그는 게임이 내부적으로 무엇을 하는지 검증하지만, 유저가 실제로 보는 것은 모니터에 그려진 최종 픽셀입니다.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57250" y="2476500"/>
            <a:ext cx="500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체감형 결함 탐지</a:t>
            </a:r>
            <a:endParaRPr b="1" sz="135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 내부 좌표는 정상이지만 렌더링 단계에서 캐릭터가 UI에 가려지거나, 프레임 지연이 발생하는 현상은 오직 화면을 봐야 잡을 수 있습니다.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57250" y="3486150"/>
            <a:ext cx="500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비간섭적(Non-Intrusive) 환경</a:t>
            </a:r>
            <a:endParaRPr b="1" sz="135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게임 엔진과 클라이언트에 간섭하지 않으므로, 보안이 철저한 라이브 빌드에도 즉시 투입 가능합니다.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1419225"/>
            <a:ext cx="133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428875"/>
            <a:ext cx="133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3438525"/>
            <a:ext cx="133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6343650" y="4648200"/>
            <a:ext cx="5267325" cy="6191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6438900" y="4743450"/>
            <a:ext cx="50768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💡 사진 느낌: 좌측은 API/로그(초록색 코드), 우측은 UI나 이펙트에 캐릭터가 가려진 게임 스크린샷 (대비 효과)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/>
        </p:nvSpPr>
        <p:spPr>
          <a:xfrm>
            <a:off x="571500" y="571500"/>
            <a:ext cx="555069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 xml:space="preserve">프로젝트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목표 및 타겟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57250" y="1562100"/>
            <a:ext cx="50007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타겟 게임</a:t>
            </a:r>
            <a:endParaRPr b="1" sz="135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 던전앤파이터 (Dungeon &amp; Fighter)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57250" y="2209800"/>
            <a:ext cx="500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환경적 난이도</a:t>
            </a:r>
            <a:endParaRPr b="1" i="0" sz="13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수천 가지 아바타 조합, 화려한 스킬 이펙트, 반투명 UI가 난무하는 극한의 2D 픽셀 노이즈 환경.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57250" y="3190875"/>
            <a:ext cx="500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최종 목표</a:t>
            </a:r>
            <a:endParaRPr b="1" i="0" sz="13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 1단계 정적 스크린샷 탐지를 넘어, 오직 화면만 보고 "내 캐릭터"를 찾아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동영상에서 실시간으로 추적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하는 것.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1514475"/>
            <a:ext cx="133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2162175"/>
            <a:ext cx="133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3143250"/>
            <a:ext cx="133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6334125" y="6238875"/>
            <a:ext cx="5857875" cy="6191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6429375" y="6334125"/>
            <a:ext cx="56673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💡 사진 느낌: 스킬 이펙트가 터지고 여러 캐릭터가 뒤엉켜 있는 복잡한 던전앤파이터 전투 스크린샷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66850"/>
            <a:ext cx="3492549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466850"/>
            <a:ext cx="3492549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466850"/>
            <a:ext cx="3492549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71500" y="4762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 xml:space="preserve">시스템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아키텍처 및 기술 스택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66775" y="2409825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탐지 모델 (Detection)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66775" y="2974500"/>
            <a:ext cx="29019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YOLO11 &amp; PyTorch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 xml:space="preserve"> 1280 해상도로 학습하여 미세한 닉네임과 캐릭터 박스를 정확히 분리 탐지합니다.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645074" y="2409825"/>
            <a:ext cx="30470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추적 알고리즘 (Tracking)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45074" y="2933700"/>
            <a:ext cx="29019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ByteTrack &amp; Hysteresis Lock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 xml:space="preserve"> 프레임 간 대상의 위치를 예측하고 매칭하여 동영상 내 실시간 궤적을 유지합니다.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423374" y="2409825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데이터 파이프라인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423474" y="2914650"/>
            <a:ext cx="29019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Active Learning Loop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 xml:space="preserve"> Flask/Streamlit 웹앱을 통해 모델이 1차 라벨링하고, 사람이 빠르게 O/X 검수하여 재학습하는 선순환 구조.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179070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1790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1790700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66850"/>
            <a:ext cx="5286375" cy="491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466850"/>
            <a:ext cx="5286375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71500" y="4762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 xml:space="preserve">데이터 파이프라인과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능동학습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952500" y="1847850"/>
            <a:ext cx="47505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1. 합성 증강 (Synthesize)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952500" y="2352675"/>
            <a:ext cx="4524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초기 데이터 부족을 해결하기 위해 직업별 스프라이트 7,070장을 실제 배경에 합성해 2,000장을 생성, 기초 모델의 성능을 확보했습니다.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715125" y="1847850"/>
            <a:ext cx="47505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2. Pseudo-labeling 검수 루프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715125" y="2352675"/>
            <a:ext cx="4524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영상 프레임 추출 후, 학습된 모델이 1차로 라벨링을 수행합니다. 인간은 처음부터 그리는 것이 아니라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O/X/? 검수만 진행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하여 라벨링 비용을 획기적으로 낮췄습니다.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571500" y="4762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 xml:space="preserve">Challenge 1: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'내 캐릭터'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는 어떻게 찾는가?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857250" y="1466850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문제: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 화면 내의 파티원과 '내 캐릭터'는 시각적으로 완벽히 동일하여 구분이 불가합니다.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857250" y="2219325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해결 (후처리 정책):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 모델은 순수하게 character와 user_id(닉네임) 박스만 모두 탐지합니다.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857250" y="2971800"/>
            <a:ext cx="50006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가장 신뢰도가 높은 닉네임 바운딩 박스를 기준으로,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그 바로 아래 위치한 캐릭터를 '내 캐릭터'로 묶어내는 A안 후처리 로직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을 설계했습니다.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57250" y="3981450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원문 크기 ~70x24px의 작은 닉네임을 잡기 위해 학습 해상도(imgsz)를 1280으로 끌어올렸습니다.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1419225"/>
            <a:ext cx="133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2171700"/>
            <a:ext cx="133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2924175"/>
            <a:ext cx="133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571500" y="3933825"/>
            <a:ext cx="133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6343650" y="4648200"/>
            <a:ext cx="5267325" cy="6191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6438900" y="4743450"/>
            <a:ext cx="50768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💡 사진 느낌: 두 명의 똑같이 생긴 픽셀 캐릭터 중, 한 캐릭터 머리 위의 '닉네임' 박스에 하이라이트/바운딩 박스가 쳐진 확대 스크린샷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571500" y="476250"/>
            <a:ext cx="11601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 xml:space="preserve">Challenge 2: 추적의 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진동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 xml:space="preserve">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(ID Switch) 제어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71500" y="2938462"/>
            <a:ext cx="2819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68%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4605337"/>
            <a:ext cx="2819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ID Switch 감소율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4152900" y="2719387"/>
            <a:ext cx="784098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Hysteresis Lock (이력 현상 잠금) 도입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4152900" y="3224212"/>
            <a:ext cx="74676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 xml:space="preserve">화려한 </a:t>
            </a: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스킬 사용 시</a:t>
            </a: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 xml:space="preserve"> 순간적으로 탐지가 끊기며 추적 ID가 바뀌는(튀는) 고질적 병목이 있었습니다.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 xml:space="preserve"> 단순 탐지를 넘어 coast-grace 및 challenge-frames 로직을 적용한 Hysteresis 락을 구현하여, 대상이 일시적으로 가려지더라도 ID를 잃지 않고 락온을 유지합니다.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4152900" y="4843462"/>
            <a:ext cx="7467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결과: ID 스위치 276건 ➔ 88건으로 안정화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571500" y="4762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 xml:space="preserve">Challenge 3: 하드웨어 한계 극복,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'청크 그라인딩'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857250" y="1466850"/>
            <a:ext cx="500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문제</a:t>
            </a:r>
            <a:endParaRPr b="1" sz="135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GPU 풀로드 학습 시 전력이 순간 차단되며 강제 재부팅되는 정전형 크래시 발생. 전력 제한 설정으로도 해결되지 않았습니다.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857250" y="2447925"/>
            <a:ext cx="50007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해결: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 학습을 2~8 Epoch 단위로 잘게 끊어서 실행하는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청크 그라인딩(Chunk Grinding)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 기법을 고안했습니다.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857250" y="3124200"/>
            <a:ext cx="500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Epoch 경계에서 학습을 일시 정지하고, 가중치·옵티마이저·EMA·LR 스케줄을 `resume`로 완벽히 복원하여 이어붙이는 방식으로 최종 80 Epoch 완주에 성공했습니다.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571500" y="1419225"/>
            <a:ext cx="133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71500" y="2400300"/>
            <a:ext cx="133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571500" y="3076575"/>
            <a:ext cx="133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6343650" y="4648200"/>
            <a:ext cx="5267325" cy="6191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6438900" y="4743450"/>
            <a:ext cx="5076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7188" y="1675175"/>
            <a:ext cx="4960251" cy="3349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4375" y="4271962"/>
            <a:ext cx="314325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2240518" y="2005012"/>
            <a:ext cx="771096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동영상 추적 라이브 데모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2424112" y="3109912"/>
            <a:ext cx="7343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ByteTrack과 Hysteresis 락이 적용된 현역 v3 모델입니다.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 xml:space="preserve"> 화려한 이펙트 속에서도 흔들림 없이 "내 캐릭터"를 락온합니다.</a:t>
            </a:r>
            <a:endParaRPr/>
          </a:p>
        </p:txBody>
      </p:sp>
      <p:pic>
        <p:nvPicPr>
          <p:cNvPr descr="image.png" id="194" name="Google Shape;19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4425" y="4462462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95250" y="6357937"/>
            <a:ext cx="120015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💡 배경 사진 느낌: 동영상 플레이어 UI가 오버레이된 역동적인 게임 전투 화면 (실제 시연 시 이 슬라이드에서 웹앱으로 화면 전환)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867275"/>
            <a:ext cx="110490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571500" y="47625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 xml:space="preserve">버전 히스토리 및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성능 트레이드오프</a:t>
            </a:r>
            <a:endParaRPr/>
          </a:p>
        </p:txBody>
      </p:sp>
      <p:graphicFrame>
        <p:nvGraphicFramePr>
          <p:cNvPr id="203" name="Google Shape;203;p22"/>
          <p:cNvGraphicFramePr/>
          <p:nvPr/>
        </p:nvGraphicFramePr>
        <p:xfrm>
          <a:off x="571500" y="14668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{16A4B603-180B-4D82-9694-0DEE5BBCF639}</a:tableStyleId>
              </a:tblPr>
              <a:tblGrid>
                <a:gridCol w="1884300"/>
                <a:gridCol w="4927550"/>
                <a:gridCol w="2212025"/>
                <a:gridCol w="2025100"/>
              </a:tblGrid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모델 버전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업데이트 내용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정적 val mAP50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동영상 추적률</a:t>
                      </a:r>
                      <a:endParaRPr b="0" sz="1500">
                        <a:solidFill>
                          <a:srgbClr val="DEFF9A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v1</a:t>
                      </a:r>
                      <a:endParaRPr b="0" i="0" sz="1500" u="none" cap="none" strike="noStrike">
                        <a:solidFill>
                          <a:schemeClr val="lt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초기 실사(817) + 합성 프레임(2,000)</a:t>
                      </a:r>
                      <a:endParaRPr b="0" i="0" sz="1500" u="none" cap="none" strike="noStrike">
                        <a:solidFill>
                          <a:schemeClr val="lt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0.856</a:t>
                      </a:r>
                      <a:endParaRPr b="0" i="0" sz="1500" u="none" cap="none" strike="noStrike">
                        <a:solidFill>
                          <a:schemeClr val="lt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-</a:t>
                      </a:r>
                      <a:endParaRPr b="0" i="0" sz="1500" u="none" cap="none" strike="noStrike">
                        <a:solidFill>
                          <a:schemeClr val="lt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v2</a:t>
                      </a:r>
                      <a:endParaRPr b="0" i="0" sz="1500" u="none" cap="none" strike="noStrike">
                        <a:solidFill>
                          <a:schemeClr val="lt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1·2차 라벨 검수 반영 및 재학습</a:t>
                      </a:r>
                      <a:endParaRPr b="0" i="0" sz="1500" u="none" cap="none" strike="noStrike">
                        <a:solidFill>
                          <a:schemeClr val="lt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0.923</a:t>
                      </a:r>
                      <a:endParaRPr b="0" i="0" sz="1500" u="none" cap="none" strike="noStrike">
                        <a:solidFill>
                          <a:schemeClr val="lt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0.840</a:t>
                      </a:r>
                      <a:endParaRPr b="0" i="0" sz="1500" u="none" cap="none" strike="noStrike">
                        <a:solidFill>
                          <a:schemeClr val="lt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v3 (현재 모델)</a:t>
                      </a:r>
                      <a:endParaRPr b="0" i="0" sz="1500" u="none" cap="none" strike="noStrike">
                        <a:solidFill>
                          <a:srgbClr val="DEFF9A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영상 프레임 721장 추가 (동영상 도메인 적용)</a:t>
                      </a:r>
                      <a:endParaRPr b="0" i="0" sz="1500" u="none" cap="none" strike="noStrike">
                        <a:solidFill>
                          <a:srgbClr val="DEFF9A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0.931</a:t>
                      </a:r>
                      <a:endParaRPr b="0" i="0" sz="1500" u="none" cap="none" strike="noStrike">
                        <a:solidFill>
                          <a:srgbClr val="DEFF9A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0.858 (↑)</a:t>
                      </a:r>
                      <a:endParaRPr b="0" i="0" sz="1500" u="none" cap="none" strike="noStrike">
                        <a:solidFill>
                          <a:srgbClr val="DEFF9A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v4 (예정)</a:t>
                      </a:r>
                      <a:endParaRPr b="0" i="0" sz="1500" u="none" cap="none" strike="noStrike">
                        <a:solidFill>
                          <a:schemeClr val="lt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영상 프레임 세밀 검수 (NPC 오탐 등 107건 제거)</a:t>
                      </a:r>
                      <a:endParaRPr b="0" i="0" sz="1500" u="none" cap="none" strike="noStrike">
                        <a:solidFill>
                          <a:schemeClr val="lt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-</a:t>
                      </a:r>
                      <a:endParaRPr b="0" i="0" sz="1500" u="none" cap="none" strike="noStrike">
                        <a:solidFill>
                          <a:schemeClr val="lt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-</a:t>
                      </a:r>
                      <a:endParaRPr b="0" i="0" sz="1500" u="none" cap="none" strike="noStrike">
                        <a:solidFill>
                          <a:schemeClr val="lt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204" name="Google Shape;204;p22"/>
          <p:cNvSpPr txBox="1"/>
          <p:nvPr/>
        </p:nvSpPr>
        <p:spPr>
          <a:xfrm>
            <a:off x="800100" y="5057775"/>
            <a:ext cx="106299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데이터 기반 인사이트:</a:t>
            </a:r>
            <a:r>
              <a:rPr b="0" i="0" lang="en-US" sz="13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 xml:space="preserve"> v2에서 v3로 영상 도메인 적응 시, 동영상 추적률은 상승했으나 모션블러가 포함된 pseudo-label의 한계로 정적 Recall은 소폭 하락(0.858 ➔ 0.834)했습니다. 무조건 큰 데이터가 답이 아님을 정량적으로 증명합니다.</a:t>
            </a:r>
            <a:endParaRPr/>
          </a:p>
        </p:txBody>
      </p:sp>
      <p:sp>
        <p:nvSpPr>
          <p:cNvPr id="205" name="Google Shape;205;p22"/>
          <p:cNvSpPr/>
          <p:nvPr/>
        </p:nvSpPr>
        <p:spPr>
          <a:xfrm>
            <a:off x="571500" y="2100262"/>
            <a:ext cx="18843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2455812" y="2100262"/>
            <a:ext cx="49275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7383363" y="2100262"/>
            <a:ext cx="22119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9595395" y="2100262"/>
            <a:ext cx="20250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571500" y="2719387"/>
            <a:ext cx="18843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2455812" y="2719387"/>
            <a:ext cx="49275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7383363" y="2719387"/>
            <a:ext cx="22119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9595395" y="2719387"/>
            <a:ext cx="20250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571500" y="3338512"/>
            <a:ext cx="18843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2455812" y="3338512"/>
            <a:ext cx="49275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7383363" y="3338512"/>
            <a:ext cx="22119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9595395" y="3338512"/>
            <a:ext cx="20250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571500" y="3957637"/>
            <a:ext cx="18843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2455812" y="3957637"/>
            <a:ext cx="49275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7383363" y="3957637"/>
            <a:ext cx="22119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9595395" y="3957637"/>
            <a:ext cx="20250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 txBox="1"/>
          <p:nvPr/>
        </p:nvSpPr>
        <p:spPr>
          <a:xfrm>
            <a:off x="571500" y="4762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 xml:space="preserve">기대 효과 및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향후 확장 계획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484186" y="4038600"/>
            <a:ext cx="366717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사이드 이펙트 사전 차단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571500" y="4467225"/>
            <a:ext cx="34925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사람의 눈을 대신해 유저가 체감할 수 있는 예기치 못한 버그를 사전 탐지.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4262485" y="4038600"/>
            <a:ext cx="366717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렌더링 지연 정량 리포트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4349799" y="4467225"/>
            <a:ext cx="34925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프레임별 위치와 모델 신뢰도 데이터를 활용하여 게임 클라이언트 렌더링 지연 리포트화.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8040785" y="4038600"/>
            <a:ext cx="366717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하드웨어 확충 &amp; v4 고도화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8128099" y="4467225"/>
            <a:ext cx="34925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PSU 교체 후 v4 대규모 학습 진행 및 가려진 파티원 Recall 한계 보강.</a:t>
            </a:r>
            <a:endParaRPr/>
          </a:p>
        </p:txBody>
      </p:sp>
      <p:pic>
        <p:nvPicPr>
          <p:cNvPr descr="image.png" id="233" name="Google Shape;23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76375"/>
            <a:ext cx="3473499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9324" y="1476375"/>
            <a:ext cx="3473499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37624" y="1476375"/>
            <a:ext cx="3473499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/>
          <p:nvPr/>
        </p:nvSpPr>
        <p:spPr>
          <a:xfrm>
            <a:off x="581025" y="3433762"/>
            <a:ext cx="3473499" cy="4048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 txBox="1"/>
          <p:nvPr/>
        </p:nvSpPr>
        <p:spPr>
          <a:xfrm>
            <a:off x="676275" y="3529012"/>
            <a:ext cx="3282999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💡 사진 느낌: AI/로봇이 게임을 테스트하는 컨셉</a:t>
            </a:r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4359324" y="3219450"/>
            <a:ext cx="3473499" cy="6191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4454574" y="3314700"/>
            <a:ext cx="32829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💡 사진 느낌: 지연율(Latency)을 보여주는 미래지향적 그래프</a:t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8137624" y="3219450"/>
            <a:ext cx="3473499" cy="6191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8232874" y="3314700"/>
            <a:ext cx="32829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💡 사진 느낌: 고성능 파워서플라이(PSU) 또는 하드웨어 업그레이드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1880473" y="2414587"/>
            <a:ext cx="8431053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Questions &amp; Answers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3109912" y="3643312"/>
            <a:ext cx="5972175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비전 기반 QA 자동화가 가져올 새로운 품질의 기준,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 xml:space="preserve"> 경청해 주셔서 감사합니다.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Image Sources</a:t>
            </a:r>
            <a:endParaRPr/>
          </a:p>
        </p:txBody>
      </p:sp>
      <p:sp>
        <p:nvSpPr>
          <p:cNvPr id="255" name="Google Shape;255;p25"/>
          <p:cNvSpPr/>
          <p:nvPr/>
        </p:nvSpPr>
        <p:spPr>
          <a:xfrm>
            <a:off x="571500" y="1409700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571500" y="23526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71500" y="31242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571500" y="3895725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571500" y="48387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71500" y="2343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71500" y="2343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71500" y="3114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71500" y="3114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71500" y="3886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71500" y="3886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71500" y="48291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71500" y="48291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571500" y="5600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571500" y="5600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0" name="Google Shape;27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83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5"/>
          <p:cNvSpPr txBox="1"/>
          <p:nvPr/>
        </p:nvSpPr>
        <p:spPr>
          <a:xfrm>
            <a:off x="1666875" y="1552575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https://www.cnet.com/a/img/resize/625545176b6096d16f050fb3c1f664e462b09696/hub/2025/03/04/022ef851-3b4c-4261-9eaf-799cd2c1cd2b/split-fiction-20250302222937.jpg?auto=webp&amp;width=1200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1666875" y="1971675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www.cnet.com</a:t>
            </a:r>
            <a:endParaRPr/>
          </a:p>
        </p:txBody>
      </p:sp>
      <p:pic>
        <p:nvPicPr>
          <p:cNvPr descr="image.png" id="273" name="Google Shape;27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955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5"/>
          <p:cNvSpPr txBox="1"/>
          <p:nvPr/>
        </p:nvSpPr>
        <p:spPr>
          <a:xfrm>
            <a:off x="1666875" y="250269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https://i.ytimg.com/vi/Qz7_-PUDsgk/maxresdefault.jpg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1666875" y="273605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play.google.com</a:t>
            </a:r>
            <a:endParaRPr/>
          </a:p>
        </p:txBody>
      </p:sp>
      <p:pic>
        <p:nvPicPr>
          <p:cNvPr descr="image.png" id="276" name="Google Shape;27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67075"/>
            <a:ext cx="158115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5"/>
          <p:cNvSpPr txBox="1"/>
          <p:nvPr/>
        </p:nvSpPr>
        <p:spPr>
          <a:xfrm>
            <a:off x="1666875" y="32742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https://miro.medium.com/1*_-ZV0dkuRGVUI2lWsdIR7Q.png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1666875" y="35075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statistician-in-stilettos.medium.com</a:t>
            </a:r>
            <a:endParaRPr/>
          </a:p>
        </p:txBody>
      </p:sp>
      <p:pic>
        <p:nvPicPr>
          <p:cNvPr descr="image.png" id="279" name="Google Shape;27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243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5"/>
          <p:cNvSpPr txBox="1"/>
          <p:nvPr/>
        </p:nvSpPr>
        <p:spPr>
          <a:xfrm>
            <a:off x="1666875" y="403860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https://external-preview.redd.it/i-built-a-led-load-display-for-my-rack-details-in-comments-v0-fN7vqAbnY8ZB6siyvzbBQ9F42552Ll5ug9fDRcfZOgw.jpg?width=1080&amp;crop=smart&amp;auto=webp&amp;s=0b5074f77e4babfa6ae5b2a459f9a186c1901ce6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1666875" y="445770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www.reddit.com</a:t>
            </a:r>
            <a:endParaRPr/>
          </a:p>
        </p:txBody>
      </p:sp>
      <p:pic>
        <p:nvPicPr>
          <p:cNvPr descr="image.png" id="282" name="Google Shape;282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9815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5"/>
          <p:cNvSpPr txBox="1"/>
          <p:nvPr/>
        </p:nvSpPr>
        <p:spPr>
          <a:xfrm>
            <a:off x="1666875" y="49887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https://static0.howtogeekimages.com/wordpress/wp-content/uploads/2025/04/shutterstock_2272394045.jpg?w=1600&amp;h=900&amp;fit=crop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1666875" y="52220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www.howtogeek.com</a:t>
            </a:r>
            <a:endParaRPr/>
          </a:p>
        </p:txBody>
      </p:sp>
      <p:pic>
        <p:nvPicPr>
          <p:cNvPr descr="image.png" id="285" name="Google Shape;285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838825"/>
            <a:ext cx="14859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5"/>
          <p:cNvSpPr txBox="1"/>
          <p:nvPr/>
        </p:nvSpPr>
        <p:spPr>
          <a:xfrm>
            <a:off x="1666875" y="575310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https://static.vecteezy.com/system/resources/thumbnails/080/848/567/large/this-futuristic-ui-features-a-moving-predictive-analytics-graph-with-colorful-sine-waves-and-shifting-phase-space-diagrams-designed-for-advanced-signal-monitoring-and-data-forecasting-video.jpg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1666875" y="617220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2" name="Google Shape;29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6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Image Sources</a:t>
            </a:r>
            <a:endParaRPr/>
          </a:p>
        </p:txBody>
      </p:sp>
      <p:sp>
        <p:nvSpPr>
          <p:cNvPr id="294" name="Google Shape;294;p26"/>
          <p:cNvSpPr/>
          <p:nvPr/>
        </p:nvSpPr>
        <p:spPr>
          <a:xfrm>
            <a:off x="571500" y="14097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571500" y="2171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571500" y="2171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7" name="Google Shape;29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6"/>
          <p:cNvSpPr txBox="1"/>
          <p:nvPr/>
        </p:nvSpPr>
        <p:spPr>
          <a:xfrm>
            <a:off x="1666875" y="15597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https://cdn.mos.cms.futurecdn.net/YU9Dfa3tFnxyxr9iy2F4DD.jpg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1666875" y="17930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www.pcgamer.com</a:t>
            </a:r>
            <a:endParaRPr/>
          </a:p>
        </p:txBody>
      </p:sp>
      <p:pic>
        <p:nvPicPr>
          <p:cNvPr descr="image.png" id="300" name="Google Shape;30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241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6"/>
          <p:cNvSpPr txBox="1"/>
          <p:nvPr/>
        </p:nvSpPr>
        <p:spPr>
          <a:xfrm>
            <a:off x="1666875" y="23312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https://p16-seeyou-useast8.capcutcdn-us.com/tos-useast8-i-2zwwjm3azk-tx2/3bdfcbd98e3b4b2ab46cb51fbc3e876a~tplv-2zwwjm3azk-image.image</a:t>
            </a:r>
            <a:endParaRPr/>
          </a:p>
        </p:txBody>
      </p:sp>
      <p:sp>
        <p:nvSpPr>
          <p:cNvPr id="302" name="Google Shape;302;p26"/>
          <p:cNvSpPr txBox="1"/>
          <p:nvPr/>
        </p:nvSpPr>
        <p:spPr>
          <a:xfrm>
            <a:off x="1666875" y="25646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dreamina.capcut.com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66850"/>
            <a:ext cx="3492549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466850"/>
            <a:ext cx="3492549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466850"/>
            <a:ext cx="3492549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71500" y="4762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전체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파이프라인 한눈에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66775" y="2409825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① 데이터 구축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66775" y="2974500"/>
            <a:ext cx="29019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실사 907 + 합성 2,000 + 영상 721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사람이 라벨한 스틸에 합성 이미지·영상 프레임을 더해 총 3,628장의 학습셋을 구성합니다.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645074" y="2409825"/>
            <a:ext cx="30470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② 모델 학습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45074" y="2933700"/>
            <a:ext cx="29019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YOLO11s · 입력 해상도 1280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character·user_id 두 클래스를 한 번에 학습합니다. 작은 닉네임 보존을 위해 고해상도를 고정합니다.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423374" y="2409825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③ 탐지 &amp; 추적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423474" y="2914650"/>
            <a:ext cx="29019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후처리 + ByteTrack 락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정적 탐지로 '내 캐릭터'를 선정한 뒤, 영상에서 같은 ID로 안정적으로 추적합니다.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179070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1790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17907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arrow1"/>
          <p:cNvSpPr txBox="1"/>
          <p:nvPr/>
        </p:nvSpPr>
        <p:spPr>
          <a:xfrm>
            <a:off x="3964049" y="2700000"/>
            <a:ext cx="385750" cy="50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rIns="0" tIns="0" wrap="square"/>
          <a:lstStyle/>
          <a:p>
            <a:pPr indent="0" lvl="0" marL="0" marR="0" rtl="0" algn="ctr">
              <a:buNone/>
            </a:pPr>
            <a:r>
              <a:rPr b="0" i="0" lang="en-US" sz="32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→</a:t>
            </a:r>
            <a:endParaRPr/>
          </a:p>
        </p:txBody>
      </p:sp>
      <p:sp>
        <p:nvSpPr>
          <p:cNvPr id="141" name="arrow2"/>
          <p:cNvSpPr txBox="1"/>
          <p:nvPr/>
        </p:nvSpPr>
        <p:spPr>
          <a:xfrm>
            <a:off x="7742348" y="2700000"/>
            <a:ext cx="385750" cy="50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rIns="0" tIns="0" wrap="square"/>
          <a:lstStyle/>
          <a:p>
            <a:pPr indent="0" lvl="0" marL="0" marR="0" rtl="0" algn="ctr">
              <a:buNone/>
            </a:pPr>
            <a:r>
              <a:rPr b="0" i="0" lang="en-US" sz="32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→</a:t>
            </a:r>
            <a:endParaRPr/>
          </a:p>
        </p:txBody>
      </p:sp>
      <p:sp>
        <p:nvSpPr>
          <p:cNvPr id="142" name="loopnote"/>
          <p:cNvSpPr txBox="1"/>
          <p:nvPr/>
        </p:nvSpPr>
        <p:spPr>
          <a:xfrm>
            <a:off x="866775" y="4900000"/>
            <a:ext cx="10458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/>
          <a:lstStyle/>
          <a:p>
            <a:pPr indent="0" lvl="0" marL="0" marR="0" rtl="0" algn="ctr">
              <a:buNone/>
            </a:pPr>
            <a:r>
              <a:rPr b="1" i="0" lang="en-US" sz="13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↺ 능동학습 루프  </a:t>
            </a:r>
            <a:r>
              <a:rPr b="0" i="0" lang="en-US" sz="13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탐지 결과를 O/X/? 검수로 정제해 ①데이터 단계로 되돌리는 선순환 구조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571500" y="476250"/>
            <a:ext cx="11601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 xml:space="preserve">데이터 합성 ①: 왜 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합성이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 xml:space="preserve">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필요한가?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71500" y="2938462"/>
            <a:ext cx="2819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907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4605337"/>
            <a:ext cx="2819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장 · 실사 라벨 전부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4152900" y="2719387"/>
            <a:ext cx="784098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문제: 실사 데이터가 너무 적다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4152900" y="3224212"/>
            <a:ext cx="74676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 xml:space="preserve">사람이 직접 라벨한 </a:t>
            </a: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실사 스크린샷은 907장뿐</a:t>
            </a: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. 던파의 수많은 직업·코스튬·포즈·크기 다양성을 담기엔 부족해 과적합(overfitting) 위험이 큽니다.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해결: 직업별 단독 스프라이트 7,070장을 실제 게임 배경 위에 합성해, 사람 라벨 없이 변형 데이터를 대량 생성하여 다양성을 확보합니다.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4152900" y="4843462"/>
            <a:ext cx="7467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기대효과: 합성 2,000장으로 초기 모델 부트스트랩 → v1 mAP50 0.856 달성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571500" y="4762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 xml:space="preserve">데이터 합성 ②: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스프라이트 합성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 xml:space="preserve"> 파이프라인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857250" y="1466850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① 배경: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 실제 게임 스크린샷을 배경으로 사용해 실전 분포를 그대로 유지합니다.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857250" y="2219325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② 선택: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 직업별 단독 스프라이트를 한 장당 1~4개 무작위로 고릅니다.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857250" y="2971800"/>
            <a:ext cx="50006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③ 변형: 좌우반전(50%)·밝기(0.8~1.15)·실측 캐릭터 높이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±15% 스케일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로 다양화합니다.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57250" y="3981450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④ 배치 &amp; 합성: 겹침 IoU&lt;0.25로 배치 후 알파 블렌딩하며, character 박스 라벨을 자동 생성·병합합니다.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1419225"/>
            <a:ext cx="133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2171700"/>
            <a:ext cx="133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2924175"/>
            <a:ext cx="133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571500" y="3933825"/>
            <a:ext cx="133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6343650" y="4648200"/>
            <a:ext cx="5267325" cy="6191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6438900" y="4743450"/>
            <a:ext cx="50768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💡 사진: 게임 배경 위에 캐릭터 스프라이트 4개가 합성되고, 각 캐릭터에 자동 생성된 바운딩 박스가 표시된 예시 이미지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66850"/>
            <a:ext cx="5286375" cy="491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466850"/>
            <a:ext cx="5286375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71500" y="4762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 xml:space="preserve">라벨 검수 루프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(O / X / ?)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952500" y="1847850"/>
            <a:ext cx="47505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문제: 자동 라벨의 오탐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952500" y="2352675"/>
            <a:ext cx="4524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영상 pseudo-label에는 NPC·소환수가 character로 잘못 섞입니다. 그대로 학습하면 오탐을 그대로 배워 모델 품질이 떨어집니다.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715125" y="1847850"/>
            <a:ext cx="47505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해결: O / X / ? 클릭 검수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715125" y="2352675"/>
            <a:ext cx="4524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모델이 먼저 라벨링하고, 사람은 박스마다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O(맞음)·X(아님)·?(애매)만 클릭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합니다. 원본 반영 전 자동 백업 후 X 박스를 제거 — 영상 검수에서 NPC 오탐 107건을 걸러냈습니다.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66850"/>
            <a:ext cx="3492549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466850"/>
            <a:ext cx="3492549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466850"/>
            <a:ext cx="3492549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71500" y="4762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 xml:space="preserve">영상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프레임 추출 &amp; 게이팅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66775" y="2409825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① 채택 (학습 사용)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66775" y="2974500"/>
            <a:ext cx="29019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신뢰도 conf ≥ 0.50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 xml:space="preserve"> 신뢰도 0.50 이상 탐지만 pseudo-label로 채택해 train 데이터에 병합합니다.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645074" y="2409825"/>
            <a:ext cx="30470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② 폐기 (메뉴 화면)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45074" y="2933700"/>
            <a:ext cx="29019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캐릭터 0 · conf &lt; 0.35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 xml:space="preserve"> 캐릭터가 없고 신뢰도도 낮으면 메뉴·로딩 화면으로 보고 프레임을 버립니다.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423374" y="2409825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③ 검수 풀 (보류)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423474" y="2914650"/>
            <a:ext cx="29019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닉네임만 탐지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 xml:space="preserve"> 닉네임은 보이는데 캐릭터를 못 잡으면 review_pool로 분리해 사람이 확인합니다.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179070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1790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17907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footnote"/>
          <p:cNvSpPr txBox="1"/>
          <p:nvPr/>
        </p:nvSpPr>
        <p:spPr>
          <a:xfrm>
            <a:off x="866775" y="4950000"/>
            <a:ext cx="10458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/>
          <a:lstStyle/>
          <a:p>
            <a:pPr indent="0" lvl="0" marL="0" marR="0" rtl="0" algn="ctr">
              <a:buNone/>
            </a:pPr>
            <a:r>
              <a:rPr b="1" i="0" lang="en-US" sz="13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 xml:space="preserve">추출 방식  </a:t>
            </a:r>
            <a:r>
              <a:rPr b="0" i="0" lang="en-US" sz="13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0.5fps(약 2초당 1장)로 샘플링 · v2 모델로 자동 라벨 · 영상 프레임은 train에만 병합(val 90장은 고정·미오염)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66850"/>
            <a:ext cx="5286375" cy="491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466850"/>
            <a:ext cx="5286375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71500" y="4762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 xml:space="preserve">Anchor-free 설계: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왜 앵커 박스를 안 썼나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952500" y="1847850"/>
            <a:ext cx="47505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통념: Anchor 박스 튜닝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952500" y="2352675"/>
            <a:ext cx="4524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일반적인 탐지기는 미리 정의한 여러 앵커 박스를 격자처럼 깔고 매칭합니다. 객체 크기·비율에 맞춰 앵커를 설계·튜닝하는 비용이 듭니다.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715125" y="1847850"/>
            <a:ext cx="47505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우리: Anchor-free (YOLO11s)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715125" y="2352675"/>
            <a:ext cx="4524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YOLO11s는 앵커 박스 없이 중심점 기반으로 직접 예측합니다. 앵커 튜닝 대신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입력 해상도를 1280으로 상향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해 ~70×24px의 작은 닉네임까지 안정적으로 탐지합니다.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571500" y="4762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 xml:space="preserve">또 다른 접근: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Anchor 락온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 xml:space="preserve"> 추적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857250" y="1466850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① 앵커 확정: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 초반 45프레임 동안 점수를 누적해 '내 캐릭터' track ID를 한 번 확정합니다.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857250" y="2219325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② 락 추종: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 확정된 ID를 따라가며 외형(HSV) 템플릿을 EMA로 계속 갱신합니다.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857250" y="2971800"/>
            <a:ext cx="50006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③ ReID 재획득: 소실되면 외형 유사도와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닉네임 단서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로 같은 개체를 다시 찾습니다.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57250" y="3981450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④ 닉네임 폴백: 재획득까지 장기 실패(120프레임)하면 닉네임 기반 재선정으로 되돌립니다.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1419225"/>
            <a:ext cx="133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2171700"/>
            <a:ext cx="133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2924175"/>
            <a:ext cx="133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571500" y="3933825"/>
            <a:ext cx="133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6343650" y="4648200"/>
            <a:ext cx="5267325" cy="6191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6438900" y="4743450"/>
            <a:ext cx="50768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💡 사진: 화려한 이펙트로 잠시 가려져도 동일 ID 박스를 유지하는 추적 프레임 3장 시퀀스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